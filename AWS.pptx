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47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583680" y="274320"/>
            <a:ext cx="2286000" cy="2286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772400" y="2286000"/>
            <a:ext cx="1097280" cy="10972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1463040"/>
            <a:ext cx="73152" cy="1645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Cloud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100584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with Examples &amp; Code Snippets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0" y="466344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008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Training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5029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1280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Basics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9659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920240" y="1874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 — Virtual Servers + CLI Examples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468880"/>
            <a:ext cx="7863840" cy="5029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5603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920240" y="2468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— Serverless + Code Snippet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1546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920240" y="3063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— Object Storage + CLI Demo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0080" y="3657600"/>
            <a:ext cx="7863840" cy="5029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7490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920240" y="3657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Security Groups + Config Examples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34340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258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1920240" y="4251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Identity &amp; Access + Policy Snippet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CLOUD COMPUTING?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On-demand delivery of IT resources</a:t>
            </a:r>
            <a:endParaRPr lang="en-US" sz="3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 the internet with</a:t>
            </a:r>
            <a:endParaRPr lang="en-US" sz="3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pay-as-you-go pricing.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0" y="3200400"/>
            <a:ext cx="1463040" cy="3657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3520440"/>
            <a:ext cx="6949440" cy="128016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it like electricity: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977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Cloud:  Buy generators, hire electricians, maintain equipment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Cloud:     Plug in, use what you need, pay the monthly bill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Cloud Computing?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94760" cy="1691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4864" cy="16916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Savings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CapEx with variable OpEx.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you consume.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097280"/>
            <a:ext cx="3794760" cy="1691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54864" cy="16916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258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Scale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07492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30+ AWS regions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in minutes.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3794760" cy="1691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" y="2971800"/>
            <a:ext cx="54864" cy="16916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004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Elastic Capacity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914400" y="3749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or down instantly.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 capacity needs.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800600" y="2971800"/>
            <a:ext cx="3794760" cy="1691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00600" y="2971800"/>
            <a:ext cx="54864" cy="16916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2004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&amp; Agility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074920" y="3749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resources in clicks.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cycles: weeks to minutes.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Service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 vs  PaaS  vs  SaaS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2606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6032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IaaS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892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OS, Apps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0487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331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Hardware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4378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770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EC2, VPC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82696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209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flexibility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3474720" y="1188720"/>
            <a:ext cx="2560320" cy="2606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3474720" y="1188720"/>
            <a:ext cx="256032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34747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PaaS</a:t>
            </a:r>
            <a:endParaRPr lang="en-US" sz="2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96596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31920" y="1892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Apps, Data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404872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931920" y="2331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OS &amp; runtime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84378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31920" y="2770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Elastic Beanstalk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82696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931920" y="3209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code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6309360" y="1188720"/>
            <a:ext cx="2560320" cy="2606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7"/>
          <p:cNvSpPr/>
          <p:nvPr/>
        </p:nvSpPr>
        <p:spPr>
          <a:xfrm>
            <a:off x="6309360" y="11887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8"/>
          <p:cNvSpPr/>
          <p:nvPr/>
        </p:nvSpPr>
        <p:spPr>
          <a:xfrm>
            <a:off x="630936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</a:t>
            </a:r>
            <a:endParaRPr lang="en-US" sz="22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65960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766560" y="1892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Data only</a:t>
            </a:r>
            <a:endParaRPr lang="en-US" sz="12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04872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766560" y="2331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Everything</a:t>
            </a:r>
            <a:endParaRPr lang="en-US" sz="12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43784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766560" y="2770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Gmail, Slack</a:t>
            </a:r>
            <a:endParaRPr lang="en-US" sz="12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82696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766560" y="3209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1200" dirty="0"/>
          </a:p>
        </p:txBody>
      </p:sp>
      <p:sp>
        <p:nvSpPr>
          <p:cNvPr id="37" name="Shape 23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60520"/>
            <a:ext cx="274320" cy="27432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123444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40" name="Text 25"/>
          <p:cNvSpPr/>
          <p:nvPr/>
        </p:nvSpPr>
        <p:spPr>
          <a:xfrm>
            <a:off x="1234440" y="43891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= Renting a kitchen (you cook)  |  PaaS = Food delivery prep kit (you assemble)  |  SaaS = Restaurant (you eat)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8B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AWS SERVICES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657600" y="2834640"/>
            <a:ext cx="1828800" cy="548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|  Storage  |  Networking  |  Security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EC2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18872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Compute Cloud — Virtual Servers in the Cloud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393192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45720" cy="5943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161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Instance Types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(free tier) to p5.48xlarge (GPU)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1828800"/>
            <a:ext cx="393192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5720" cy="5943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Scaling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add/remove instances on demand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2514600"/>
            <a:ext cx="393192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" y="2514600"/>
            <a:ext cx="45720" cy="5943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2807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On-Demand, Reserved, or Spot pricing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46320" y="1143000"/>
            <a:ext cx="3749040" cy="20574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983480" y="842897"/>
            <a:ext cx="374904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897761"/>
            <a:ext cx="164592" cy="1645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30952" y="84289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— EC2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120640" y="1162937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 an EC2 instance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run-instances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--image-id ami-0abcdef1234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--instance-type t2.micro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--key-name my-key-pair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--security-group-ids sg-903004f8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--count 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instance status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describe-instances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--instance-ids i-0abc123def</a:t>
            </a:r>
            <a:endParaRPr lang="en-US" sz="10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93C318-E27C-F39A-4C54-0F37E250EEE9}"/>
              </a:ext>
            </a:extLst>
          </p:cNvPr>
          <p:cNvGrpSpPr/>
          <p:nvPr/>
        </p:nvGrpSpPr>
        <p:grpSpPr>
          <a:xfrm>
            <a:off x="594360" y="3212842"/>
            <a:ext cx="7955280" cy="510415"/>
            <a:chOff x="640080" y="3429000"/>
            <a:chExt cx="7955280" cy="510415"/>
          </a:xfrm>
        </p:grpSpPr>
        <p:sp>
          <p:nvSpPr>
            <p:cNvPr id="22" name="Shape 18"/>
            <p:cNvSpPr/>
            <p:nvPr/>
          </p:nvSpPr>
          <p:spPr>
            <a:xfrm>
              <a:off x="640080" y="3436495"/>
              <a:ext cx="7955280" cy="502920"/>
            </a:xfrm>
            <a:prstGeom prst="rect">
              <a:avLst/>
            </a:prstGeom>
            <a:solidFill>
              <a:srgbClr val="0D111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9"/>
            <p:cNvSpPr/>
            <p:nvPr/>
          </p:nvSpPr>
          <p:spPr>
            <a:xfrm>
              <a:off x="822960" y="3429000"/>
              <a:ext cx="75895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Cases:  Web hosting  |  Batch processing  |  Dev/Test  |  ML training  |  Enterprise apps</a:t>
              </a:r>
              <a:endParaRPr lang="en-US" sz="1250" dirty="0"/>
            </a:p>
          </p:txBody>
        </p:sp>
      </p:grpSp>
      <p:sp>
        <p:nvSpPr>
          <p:cNvPr id="24" name="Text 20"/>
          <p:cNvSpPr/>
          <p:nvPr/>
        </p:nvSpPr>
        <p:spPr>
          <a:xfrm>
            <a:off x="640080" y="363181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Popular Instance Types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679989"/>
              </p:ext>
            </p:extLst>
          </p:nvPr>
        </p:nvGraphicFramePr>
        <p:xfrm>
          <a:off x="640080" y="3951857"/>
          <a:ext cx="7955280" cy="11811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vCPU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t2.micro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tier,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m5.large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c5.xlarge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intensive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r5.large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intensive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640080" y="3951857"/>
            <a:ext cx="7955280" cy="2011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777240" y="3951857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        vCPU     Memory     Best For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Lambda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188720" y="59675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— Zero Administration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Lambda Works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function code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801368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trigger (API, S3, schedule)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18541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21854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runs it automatically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2569464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2569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execution time (ms)</a:t>
            </a:r>
            <a:endParaRPr lang="en-US" sz="12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E0232B-0DD7-2430-AA97-A6F4C8D70D89}"/>
              </a:ext>
            </a:extLst>
          </p:cNvPr>
          <p:cNvGrpSpPr/>
          <p:nvPr/>
        </p:nvGrpSpPr>
        <p:grpSpPr>
          <a:xfrm>
            <a:off x="4663440" y="521208"/>
            <a:ext cx="3931920" cy="2286000"/>
            <a:chOff x="4663440" y="1051560"/>
            <a:chExt cx="3931920" cy="2286000"/>
          </a:xfrm>
        </p:grpSpPr>
        <p:sp>
          <p:nvSpPr>
            <p:cNvPr id="18" name="Shape 15"/>
            <p:cNvSpPr/>
            <p:nvPr/>
          </p:nvSpPr>
          <p:spPr>
            <a:xfrm>
              <a:off x="4663440" y="1051560"/>
              <a:ext cx="3931920" cy="2286000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6"/>
            <p:cNvSpPr/>
            <p:nvPr/>
          </p:nvSpPr>
          <p:spPr>
            <a:xfrm>
              <a:off x="4663440" y="1051560"/>
              <a:ext cx="3931920" cy="274320"/>
            </a:xfrm>
            <a:prstGeom prst="rect">
              <a:avLst/>
            </a:prstGeom>
            <a:solidFill>
              <a:srgbClr val="21262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73168" y="1106424"/>
              <a:ext cx="164592" cy="164592"/>
            </a:xfrm>
            <a:prstGeom prst="rect">
              <a:avLst/>
            </a:prstGeom>
          </p:spPr>
        </p:pic>
        <p:sp>
          <p:nvSpPr>
            <p:cNvPr id="21" name="Text 17"/>
            <p:cNvSpPr/>
            <p:nvPr/>
          </p:nvSpPr>
          <p:spPr>
            <a:xfrm>
              <a:off x="5010912" y="1051560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lambda_function.py</a:t>
              </a:r>
              <a:endParaRPr lang="en-US" sz="900" dirty="0"/>
            </a:p>
          </p:txBody>
        </p:sp>
        <p:sp>
          <p:nvSpPr>
            <p:cNvPr id="22" name="Text 18"/>
            <p:cNvSpPr/>
            <p:nvPr/>
          </p:nvSpPr>
          <p:spPr>
            <a:xfrm>
              <a:off x="4800600" y="1371600"/>
              <a:ext cx="3657600" cy="1874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Python Lambda Function Example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json</a:t>
              </a:r>
              <a:endParaRPr lang="en-US" sz="1000" dirty="0"/>
            </a:p>
            <a:p>
              <a:pPr marL="0" indent="0">
                <a:buNone/>
              </a:pP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def lambda_handler(event, context):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name = event.get("name", "World")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return {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A5D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'statusCode': 200,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'body': json.dumps({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A5D6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'message': f'Hello, {name}!'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})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}</a:t>
              </a:r>
              <a:endParaRPr lang="en-US" sz="1000" dirty="0"/>
            </a:p>
          </p:txBody>
        </p:sp>
      </p:grpSp>
      <p:sp>
        <p:nvSpPr>
          <p:cNvPr id="23" name="Shape 19"/>
          <p:cNvSpPr/>
          <p:nvPr/>
        </p:nvSpPr>
        <p:spPr>
          <a:xfrm>
            <a:off x="640080" y="3520440"/>
            <a:ext cx="7955280" cy="13258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40080" y="3520440"/>
            <a:ext cx="795528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575304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87552" y="3520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— Lambda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7724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Lambda via CLI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create-function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--function-name my-function --runtime python3.12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--handler lambda_function.lambda_handler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--zip-file fileb://function.zip --role arn:aws:iam::123:role/lambda-role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Invoke the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invoke --function-name my-function --payload '{"name":"Yathish"}' out.json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EC2 vs Lambda — When to Use Which?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79476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794760" cy="457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2412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EC2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600200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 access &amp; config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84248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patching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68296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2304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(manual setup)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52344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3000" y="26883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Per-second billing</a:t>
            </a:r>
            <a:endParaRPr lang="en-US" sz="12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36392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3000" y="3072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long-running jobs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4709160" y="960120"/>
            <a:ext cx="379476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0"/>
          <p:cNvSpPr/>
          <p:nvPr/>
        </p:nvSpPr>
        <p:spPr>
          <a:xfrm>
            <a:off x="4709160" y="960120"/>
            <a:ext cx="379476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024128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4924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Lambda</a:t>
            </a:r>
            <a:endParaRPr lang="en-US" sz="18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1208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runtime, no OS</a:t>
            </a:r>
            <a:endParaRPr lang="en-US" sz="12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84248"/>
            <a:ext cx="164592" cy="16459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120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management</a:t>
            </a:r>
            <a:endParaRPr lang="en-US" sz="12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68296"/>
            <a:ext cx="164592" cy="16459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212080" y="2304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 to zero</a:t>
            </a:r>
            <a:endParaRPr lang="en-US" sz="125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52344"/>
            <a:ext cx="164592" cy="16459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212080" y="26883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Per-millisecond billing</a:t>
            </a:r>
            <a:endParaRPr lang="en-US" sz="125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36392"/>
            <a:ext cx="164592" cy="164592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212080" y="3072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event-driven tasks</a:t>
            </a:r>
            <a:endParaRPr lang="en-US" sz="1250" dirty="0"/>
          </a:p>
        </p:txBody>
      </p:sp>
      <p:sp>
        <p:nvSpPr>
          <p:cNvPr id="31" name="Shape 17"/>
          <p:cNvSpPr/>
          <p:nvPr/>
        </p:nvSpPr>
        <p:spPr>
          <a:xfrm>
            <a:off x="640080" y="3657600"/>
            <a:ext cx="7863840" cy="123444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1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712464"/>
            <a:ext cx="164592" cy="164592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987552" y="3657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decision_guide.py</a:t>
            </a:r>
            <a:endParaRPr lang="en-US" sz="900" dirty="0"/>
          </a:p>
        </p:txBody>
      </p:sp>
      <p:sp>
        <p:nvSpPr>
          <p:cNvPr id="35" name="Text 20"/>
          <p:cNvSpPr/>
          <p:nvPr/>
        </p:nvSpPr>
        <p:spPr>
          <a:xfrm>
            <a:off x="777240" y="3977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Decision Guide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runtime &gt; 15_minutes or needs_OS_access: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use("EC2")     # Long-running, stateful workloads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event_driven and runtime &lt; 15_minutes: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use("Lambda")  # Short bursts, pay-per-use, auto-scale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S3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18872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Storage Service — 11 Nines Durability (99.999999999%)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749040" cy="411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4572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097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Bucket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37360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container (like a folder)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1600200"/>
            <a:ext cx="3749040" cy="411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1600200"/>
            <a:ext cx="4572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16002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37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up to 5TB (images, data, backups)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2103120"/>
            <a:ext cx="3749040" cy="411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" y="2103120"/>
            <a:ext cx="4572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2103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73736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object in a bucket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63440" y="1097280"/>
            <a:ext cx="3931920" cy="150876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63440" y="1097280"/>
            <a:ext cx="393192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152144"/>
            <a:ext cx="164592" cy="1645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10912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— S3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80060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bucket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mb s3://my-app-bucket-2026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a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report.pdf s3://my-app-bucket-2026/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bucket contents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 s3://my-app-bucket-2026/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008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Classes — Cost vs Access Speed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0080" y="3246120"/>
            <a:ext cx="7863840" cy="25603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77240" y="32461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 — Frequent access, lowest latency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40080" y="3593592"/>
            <a:ext cx="6217920" cy="2560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77240" y="35935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Intelligent-Tiering — Auto-moves between tiers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40080" y="3941064"/>
            <a:ext cx="411480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777240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— Archive, retrieval in minutes/hours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40080" y="4288536"/>
            <a:ext cx="2286000" cy="25603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777240" y="4288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Archive — Cheapest, 12-hour retrieval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/ Faster access  ──────►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with Python (Boto3)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18872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to S3 from your applications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21031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393192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152144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upload_to_s3.py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77240" y="141732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a file to S3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= boto3.client('s3')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s3.upload_file(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'local_report.pdf',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'my-app-bucket-2026',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'reports/Q1_report.pdf'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print("Upload complete!")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846320" y="1097280"/>
            <a:ext cx="3749040" cy="21031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5214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93792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read_from_s3.py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983480" y="141732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from S3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s3.download_file(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'my-app-bucket-2026',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'reports/Q1_report.pdf',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'downloaded.pdf'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all objects in bucket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s3.list_objects_v2(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Bucket='my-app-bucket-2026')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obj in resp['Contents']: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print(obj['Key'])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40080" y="3383280"/>
            <a:ext cx="7955280" cy="14173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795528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3814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7552" y="3383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presigned_url.py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77240" y="3703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 pre-signed URL (share private objects temporarily)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s3.generate_presigned_url('get_object',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Params={'Bucket': 'my-app-bucket-2026', 'Key': 'reports/Q1_report.pdf'},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ExpiresIn=3600  # Link valid for 1 hour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print(f"Shareable link: {url}")  # Anyone with this URL can download for 1hr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VPC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18872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 — Your Isolated Network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17043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VPC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CIDR block (e.g. 10.0.0.0/16)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1554480"/>
            <a:ext cx="45720" cy="22860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185623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Subnets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Private subnets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" y="2240280"/>
            <a:ext cx="45720" cy="22860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0080" y="254203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GW + NAT GW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4672" y="2926080"/>
            <a:ext cx="45720" cy="22860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080" y="322783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887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Tables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8872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traffic flow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0" y="1097280"/>
            <a:ext cx="4023360" cy="27432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72000" y="1097280"/>
            <a:ext cx="402336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152144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919472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— VPC Setup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709160" y="141732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VPC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create-vpc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--cidr-block 10.0.0.0/16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public subnet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create-subnet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--vpc-id vpc-0abc123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--cidr-block 10.0.1.0/24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--availability-zone ap-south-1a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Attach internet gateway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create-internet-gateway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attach-internet-gateway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--vpc-id vpc-0abc123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--internet-gateway-id igw-0def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40080" y="4160520"/>
            <a:ext cx="7955280" cy="6858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5196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430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Pattern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143000" y="4480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 → IGW → Public Subnet (ALB, Bastion) → Private Subnet (App Servers, DB) → NAT GW → Internet (outbound only)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Groups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18872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Firewall — Instance-Level Traffic Control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3749040" cy="548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097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 Only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234440" y="134416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deny rules. Default: deny all.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1691640"/>
            <a:ext cx="3749040" cy="548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40080" y="1691640"/>
            <a:ext cx="3749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Stateful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34440" y="198424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allow = auto outbound.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331720"/>
            <a:ext cx="3749040" cy="548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0080" y="2331720"/>
            <a:ext cx="3749040" cy="3657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4688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 Privilege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34440" y="262432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only needed ports/IPs.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63440" y="1051560"/>
            <a:ext cx="3931920" cy="192024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663440" y="1051560"/>
            <a:ext cx="393192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1106424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10912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— Security Groups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800600" y="13716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security group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create-security-group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--group-name web-sg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--description "Web server SG"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--vpc-id vpc-0abc123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Allow HTTPS inbound from anywhere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authorize-security-group-ingress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--group-id sg-903004f8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--protocol tcp --port 443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--cidr 0.0.0.0/0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Security Group Rules — Web Server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40080" y="3611880"/>
            <a:ext cx="7955280" cy="2560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777240" y="3611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         Protocol       Port       Source/Dest              Purpose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40080" y="3886200"/>
            <a:ext cx="7955280" cy="2560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777240" y="38862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            TCP            443        0.0.0.0/0                HTTPS from anywhere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40080" y="4142232"/>
            <a:ext cx="7955280" cy="2560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77240" y="41422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            TCP            22         203.0.113.0/24           SSH from office IP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40080" y="4398264"/>
            <a:ext cx="7955280" cy="2560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777240" y="43982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Inbound            TCP            80         0.0.0.0/0                HTTP (redirect to 443)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40080" y="4654296"/>
            <a:ext cx="7955280" cy="2560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777240" y="46542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Outbound           All            All        0.0.0.0/0                Allow all outbound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IAM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18872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2560320" cy="2834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256032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2344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&amp; Groups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31720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IAM users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697480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8992" y="2624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for team access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63240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78992" y="2990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CLI access</a:t>
            </a:r>
            <a:endParaRPr lang="en-US" sz="11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29000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78992" y="3355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for security</a:t>
            </a:r>
            <a:endParaRPr lang="en-US" sz="1150" dirty="0"/>
          </a:p>
        </p:txBody>
      </p:sp>
      <p:sp>
        <p:nvSpPr>
          <p:cNvPr id="17" name="Shape 9"/>
          <p:cNvSpPr/>
          <p:nvPr/>
        </p:nvSpPr>
        <p:spPr>
          <a:xfrm>
            <a:off x="3474720" y="1051560"/>
            <a:ext cx="2560320" cy="2834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0"/>
          <p:cNvSpPr/>
          <p:nvPr/>
        </p:nvSpPr>
        <p:spPr>
          <a:xfrm>
            <a:off x="3474720" y="105156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123444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47472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Policies</a:t>
            </a:r>
            <a:endParaRPr lang="en-US" sz="15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331720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913632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permission docs</a:t>
            </a:r>
            <a:endParaRPr lang="en-US" sz="11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697480"/>
            <a:ext cx="164592" cy="16459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3913632" y="2624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or Deny actions</a:t>
            </a:r>
            <a:endParaRPr lang="en-US" sz="11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063240"/>
            <a:ext cx="164592" cy="16459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3913632" y="2990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users/roles</a:t>
            </a:r>
            <a:endParaRPr lang="en-US" sz="115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164592" cy="16459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3913632" y="3355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 or custom</a:t>
            </a:r>
            <a:endParaRPr lang="en-US" sz="1150" dirty="0"/>
          </a:p>
        </p:txBody>
      </p:sp>
      <p:sp>
        <p:nvSpPr>
          <p:cNvPr id="29" name="Shape 16"/>
          <p:cNvSpPr/>
          <p:nvPr/>
        </p:nvSpPr>
        <p:spPr>
          <a:xfrm>
            <a:off x="6309360" y="1051560"/>
            <a:ext cx="2560320" cy="2834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17"/>
          <p:cNvSpPr/>
          <p:nvPr/>
        </p:nvSpPr>
        <p:spPr>
          <a:xfrm>
            <a:off x="6309360" y="1051560"/>
            <a:ext cx="256032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234440"/>
            <a:ext cx="457200" cy="45720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</a:t>
            </a:r>
            <a:endParaRPr lang="en-US" sz="15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331720"/>
            <a:ext cx="164592" cy="164592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6748272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credentials</a:t>
            </a:r>
            <a:endParaRPr lang="en-US" sz="115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697480"/>
            <a:ext cx="164592" cy="164592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6748272" y="2624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access</a:t>
            </a:r>
            <a:endParaRPr lang="en-US" sz="115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063240"/>
            <a:ext cx="164592" cy="164592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6748272" y="2990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services (EC2, Lambda)</a:t>
            </a:r>
            <a:endParaRPr lang="en-US" sz="115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429000"/>
            <a:ext cx="164592" cy="164592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6748272" y="3355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passwords</a:t>
            </a:r>
            <a:endParaRPr lang="en-US" sz="1150" dirty="0"/>
          </a:p>
        </p:txBody>
      </p:sp>
      <p:sp>
        <p:nvSpPr>
          <p:cNvPr id="41" name="Shape 23"/>
          <p:cNvSpPr/>
          <p:nvPr/>
        </p:nvSpPr>
        <p:spPr>
          <a:xfrm>
            <a:off x="640080" y="4069080"/>
            <a:ext cx="7955280" cy="77724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24"/>
          <p:cNvSpPr/>
          <p:nvPr/>
        </p:nvSpPr>
        <p:spPr>
          <a:xfrm>
            <a:off x="640080" y="4069080"/>
            <a:ext cx="7955280" cy="2286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4105656"/>
            <a:ext cx="146304" cy="146304"/>
          </a:xfrm>
          <a:prstGeom prst="rect">
            <a:avLst/>
          </a:prstGeom>
        </p:spPr>
      </p:pic>
      <p:sp>
        <p:nvSpPr>
          <p:cNvPr id="44" name="Text 25"/>
          <p:cNvSpPr/>
          <p:nvPr/>
        </p:nvSpPr>
        <p:spPr>
          <a:xfrm>
            <a:off x="96012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IAM CLI</a:t>
            </a:r>
            <a:endParaRPr lang="en-US" sz="900" dirty="0"/>
          </a:p>
        </p:txBody>
      </p:sp>
      <p:sp>
        <p:nvSpPr>
          <p:cNvPr id="45" name="Text 26"/>
          <p:cNvSpPr/>
          <p:nvPr/>
        </p:nvSpPr>
        <p:spPr>
          <a:xfrm>
            <a:off x="777240" y="43434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create-user --user-name dev-yathish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add-user-to-group --user-name dev-yathish --group-name developers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iam attach-group-policy --group-name developers --policy-arn arn:aws:iam::aws:policy/ReadOnlyAccess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IAM Policy — JSON Example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18872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define WHO can do WHAT on WHICH resources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4114800" cy="329184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152144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s3-readonly-policy.json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77240" y="1417320"/>
            <a:ext cx="3840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S3 Read-Only Policy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"2012-10-17",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"Effect": "Allow",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"s3:GetObject",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"s3:ListBucket"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"Resource":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"arn:aws:s3:::my-bucket",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"arn:aws:s3:::my-bucket/*"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Anatomy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0" y="1600200"/>
            <a:ext cx="356616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029200" y="1600200"/>
            <a:ext cx="457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257800" y="1618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257800" y="18562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"Allow" or "Deny" — what happens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0" y="2194560"/>
            <a:ext cx="356616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29200" y="2194560"/>
            <a:ext cx="4572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257800" y="22128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257800" y="24505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API calls are permitted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0" y="2788920"/>
            <a:ext cx="356616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029200" y="2788920"/>
            <a:ext cx="457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257800" y="28072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257800" y="30449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AWS resources (ARN)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29200" y="3383280"/>
            <a:ext cx="356616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029200" y="3383280"/>
            <a:ext cx="45720" cy="5029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257800" y="3401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257800" y="36393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applies to (optional)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0080" y="4572000"/>
            <a:ext cx="7955280" cy="4114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6344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88720" y="45720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 Start with zero permissions → Grant only what's needed → Use conditions for extra control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 THIS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small, think big.</a:t>
            </a:r>
            <a:endParaRPr lang="en-US" sz="3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cloud lets you experiment</a:t>
            </a:r>
            <a:endParaRPr lang="en-US" sz="3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risk.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3657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3657600"/>
            <a:ext cx="6949440" cy="10972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Cheat Sheet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4069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= Virtual servers  |  Lambda = Serverless functions  |  S3 = Object storage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= Private network  |  SG = Instance firewall  |  IAM = Access control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750 hrs EC2 t2.micro + 5GB S3 + 1M Lambda requests/month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38BDF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3291840"/>
            <a:ext cx="54864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0312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to Continue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3703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docs.aws.amazon.com  —  Official documentation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aws.amazon.com/free  —  Free Tier (12 months)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skillbuilder.aws  —  Free training &amp; certifications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Fundamentals — Interactive 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1686</Words>
  <Application>Microsoft Macintosh PowerPoint</Application>
  <PresentationFormat>On-screen Show (16:9)</PresentationFormat>
  <Paragraphs>350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Fundamentals</dc:title>
  <dc:subject>PptxGenJS Presentation</dc:subject>
  <dc:creator>AWS Training</dc:creator>
  <cp:lastModifiedBy>Yathish L</cp:lastModifiedBy>
  <cp:revision>2</cp:revision>
  <dcterms:created xsi:type="dcterms:W3CDTF">2026-04-15T12:24:08Z</dcterms:created>
  <dcterms:modified xsi:type="dcterms:W3CDTF">2026-06-28T11:44:46Z</dcterms:modified>
</cp:coreProperties>
</file>